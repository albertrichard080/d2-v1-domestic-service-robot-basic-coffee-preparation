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344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121212"/>
                </a:solidFill>
                <a:latin typeface="Arial"/>
              </a:rPr>
              <a:t>Domestic Service Robot:</a:t>
            </a:r>
          </a:p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121212"/>
                </a:solidFill>
                <a:latin typeface="Arial"/>
              </a:rPr>
              <a:t>Basic Coffee Preparation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555555"/>
                </a:solidFill>
                <a:latin typeface="Arial"/>
              </a:rPr>
              <a:t>Assignment D2-V1   Classical PDDL and PDDL+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1212"/>
                </a:solidFill>
                <a:latin typeface="Arial"/>
              </a:rPr>
              <a:t>Richard Albert King Mechoda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MSc Robotics Engineering, University of Genova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Artificial Intelligence for Robotics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21212"/>
                </a:solidFill>
                <a:latin typeface="Arial"/>
              </a:rPr>
              <a:t>Problem and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53035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5303520" cy="420624"/>
          </a:xfrm>
          <a:prstGeom prst="rect">
            <a:avLst/>
          </a:prstGeom>
          <a:solidFill>
            <a:srgbClr val="16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4974336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21212"/>
                </a:solidFill>
                <a:latin typeface="Arial"/>
              </a:rPr>
              <a:t>-  A fixed manipulator must prepare a cup of coffee in a kitchen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21212"/>
                </a:solidFill>
                <a:latin typeface="Arial"/>
              </a:rPr>
              <a:t>-  Required sequence:</a:t>
            </a:r>
          </a:p>
          <a:p>
            <a:pPr algn="l" lvl="1">
              <a:spcAft>
                <a:spcPts val="70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    -  obtain the empty cup</a:t>
            </a:r>
          </a:p>
          <a:p>
            <a:pPr algn="l" lvl="1">
              <a:spcAft>
                <a:spcPts val="70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    -  fill it with water</a:t>
            </a:r>
          </a:p>
          <a:p>
            <a:pPr algn="l" lvl="1">
              <a:spcAft>
                <a:spcPts val="70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    -  add coffee powder</a:t>
            </a:r>
          </a:p>
          <a:p>
            <a:pPr algn="l" lvl="1">
              <a:spcAft>
                <a:spcPts val="70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    -  brew with the coffee machine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21212"/>
                </a:solidFill>
                <a:latin typeface="Arial"/>
              </a:rPr>
              <a:t>-  Constraints:</a:t>
            </a:r>
          </a:p>
          <a:p>
            <a:pPr algn="l" lvl="1">
              <a:spcAft>
                <a:spcPts val="70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    -  static kitchen, fixed object positions</a:t>
            </a:r>
          </a:p>
          <a:p>
            <a:pPr algn="l" lvl="1">
              <a:spcAft>
                <a:spcPts val="70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    -  one object handled at a time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21212"/>
                </a:solidFill>
                <a:latin typeface="Arial"/>
              </a:rPr>
              <a:t>-  Q1: classical PDDL, two instances with valid plans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21212"/>
                </a:solidFill>
                <a:latin typeface="Arial"/>
              </a:rPr>
              <a:t>-  Q2: PDDL+, cooling process, cold event, timing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371600"/>
            <a:ext cx="53035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9632" y="1371600"/>
            <a:ext cx="5303520" cy="420624"/>
          </a:xfrm>
          <a:prstGeom prst="rect">
            <a:avLst/>
          </a:prstGeom>
          <a:solidFill>
            <a:srgbClr val="16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1938528"/>
            <a:ext cx="4974336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21212"/>
                </a:solidFill>
                <a:latin typeface="Arial"/>
              </a:rPr>
              <a:t>-  Cup contents modelled as a chain of states; recipe order comes from action preconditions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21212"/>
                </a:solidFill>
                <a:latin typeface="Arial"/>
              </a:rPr>
              <a:t>-  Tap, dispenser and machine are location capabilities; only the cup is grasped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21212"/>
                </a:solidFill>
                <a:latin typeface="Arial"/>
              </a:rPr>
              <a:t>-  grasp and place are explicit actions on a one-slot gripper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21212"/>
                </a:solidFill>
                <a:latin typeface="Arial"/>
              </a:rPr>
              <a:t>-  PDDL+: temperature fluent, autonomous cooling process, event that makes cold coffee unusable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21212"/>
                </a:solidFill>
                <a:latin typeface="Arial"/>
              </a:rPr>
              <a:t>-  Checked with a real planner:</a:t>
            </a:r>
          </a:p>
          <a:p>
            <a:pPr algn="l" lvl="1">
              <a:spcAft>
                <a:spcPts val="70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    -  Q1 with pyperplan, plans of length 3 and 9</a:t>
            </a:r>
          </a:p>
          <a:p>
            <a:pPr algn="l" lvl="1">
              <a:spcAft>
                <a:spcPts val="70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    -  Q2 with ENHSP, fast delivery solved, slow delivery unsolvable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Richard Albert King Mechoda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37376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21212"/>
                </a:solidFill>
                <a:latin typeface="Arial"/>
              </a:rPr>
              <a:t>Q1: classical PDDL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55555"/>
                </a:solidFill>
                <a:latin typeface="Arial"/>
              </a:rPr>
              <a:t>Ordering comes from preconditions, not from a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2"/>
                </a:solidFill>
                <a:latin typeface="Arial"/>
              </a:rPr>
              <a:t>Object states form one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11064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0584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21212"/>
                </a:solidFill>
                <a:latin typeface="Courier New"/>
              </a:rPr>
              <a:t>(empty ?c)  -&gt;  (has-water ?c)  -&gt;  (has-powder ?c)  -&gt;  (coffee-ready ?c)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06040"/>
            <a:ext cx="110642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21212"/>
                </a:solidFill>
                <a:latin typeface="Arial"/>
              </a:rPr>
              <a:t>-  Stations are capabilities of locations: is-water-source, is-powder-source, is-machine. Only the cup is grasped.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21212"/>
                </a:solidFill>
                <a:latin typeface="Arial"/>
              </a:rPr>
              <a:t>-  grasp and place are explicit; every station operation needs the cup placed there with the gripper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4048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2"/>
                </a:solidFill>
                <a:latin typeface="Arial"/>
              </a:rPr>
              <a:t>How preconditions force the 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187952"/>
            <a:ext cx="11064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4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0584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fill-water   needs (empty ?c)        only an empty cup can be filled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add-powder   needs (has-water ?c)    powder strictly after water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brew-coffee  needs (has-water ?c) and (has-powder ?c)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Richard Albert King Mechoda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37376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21212"/>
                </a:solidFill>
                <a:latin typeface="Arial"/>
              </a:rPr>
              <a:t>Q1: instances and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55555"/>
                </a:solidFill>
                <a:latin typeface="Arial"/>
              </a:rPr>
              <a:t>Same domain, only the initial state changes the difficulty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2"/>
                </a:solidFill>
                <a:latin typeface="Arial"/>
              </a:rPr>
              <a:t>Simple: one counter does everything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5303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0584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(fill-water  cup1 counter)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(add-powder  cup1 counter)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(brew-coffee cup1 counter)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632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pyperplan: plan length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481328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2"/>
                </a:solidFill>
                <a:latin typeface="Arial"/>
              </a:rPr>
              <a:t>Complex: separate stations, cup on a shelf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28800"/>
            <a:ext cx="53035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0584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(grasp       cup1 shelf)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(place       cup1 water-source)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(fill-water  cup1 water-source)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(grasp       cup1 water-source)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(place       cup1 powder-dispenser)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(add-powder  cup1 powder-dispenser)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(grasp       cup1 powder-dispenser)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(place       cup1 coffee-machine)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(brew-coffee cup1 coffee-machine)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49834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pyperplan: plan length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715000"/>
            <a:ext cx="110642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21212"/>
                </a:solidFill>
                <a:latin typeface="Arial"/>
              </a:rPr>
              <a:t>-  Planning difficulty is in the structure of the instance, not in the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Richard Albert King Mechoda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37376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21212"/>
                </a:solidFill>
                <a:latin typeface="Arial"/>
              </a:rPr>
              <a:t>Q2: PDDL+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55555"/>
                </a:solidFill>
                <a:latin typeface="Arial"/>
              </a:rPr>
              <a:t>The world changes even when the robot does nothing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2"/>
                </a:solidFill>
                <a:latin typeface="Arial"/>
              </a:rPr>
              <a:t>Process: continuous cooling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5303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0584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(:process cooling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  :precondition (coffee-ready ?c)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  :effect (decrease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    (temperature ?c) (* #t 1)))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2" y="1481328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2"/>
                </a:solidFill>
                <a:latin typeface="Arial"/>
              </a:rPr>
              <a:t>Event: fires by itself at the threshold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828800"/>
            <a:ext cx="530352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4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0584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(:event coffee-got-cold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  :precondition (and (coffee-ready ?c)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    (&lt;= (temperature ?c)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        (drinkable-temp)))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  :effect (and (not (coffee-ready ?c))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               (spoiled ?c)))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977639"/>
            <a:ext cx="110642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21212"/>
                </a:solidFill>
                <a:latin typeface="Arial"/>
              </a:rPr>
              <a:t>-  Brewing and delivery take time. ENHSP has no durative actions, so each becomes start action, clock process and completion event.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21212"/>
                </a:solidFill>
                <a:latin typeface="Arial"/>
              </a:rPr>
              <a:t>-  Delivery completes only if the coffee is still hot when the hand-over ends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120640"/>
            <a:ext cx="11064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4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0584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start-brew -&gt; brewing-process (clock) -&gt; brew-done at t = 5: temperature :=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Richard Albert King Mechoda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37376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21212"/>
                </a:solidFill>
                <a:latin typeface="Arial"/>
              </a:rPr>
              <a:t>Q2: timing decides plan validity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55555"/>
                </a:solidFill>
                <a:latin typeface="Arial"/>
              </a:rPr>
              <a:t>Two instances, identical except one number: delivery-time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2"/>
                </a:solidFill>
                <a:latin typeface="Arial"/>
              </a:rPr>
              <a:t>delivery-time = 10  -&gt;  Problem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53035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4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0584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 0.0  fill-water, add-powder,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      start-brew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 5.0  [brew-done: 90]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      grasp, start-delivery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15.0  [delivery-complete ~80]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      goal (served cup1) reached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2" y="1481328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212"/>
                </a:solidFill>
                <a:latin typeface="Arial"/>
              </a:rPr>
              <a:t>delivery-time = 70  -&gt;  Problem unsolvable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828800"/>
            <a:ext cx="53035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4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0584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hot window: 90 -&gt; 40 at 1 per unit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          = 50 units  &lt;  70 needed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coffee-got-cold fires in transit,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delivery-complete can never trigger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21212"/>
                </a:solidFill>
                <a:latin typeface="Courier New"/>
              </a:rPr>
              <a:t>ENHSP: "Problem unsolvable"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110642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21212"/>
                </a:solidFill>
                <a:latin typeface="Arial"/>
              </a:rPr>
              <a:t>-  The planner even found a loophole in the first model: it put the cup back in the machine mid-delivery and re-brewed the spoiled coffee</a:t>
            </a:r>
          </a:p>
          <a:p>
            <a:pPr algn="l" lvl="1">
              <a:spcAft>
                <a:spcPts val="80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    -  fix: place forbidden while delivering, spoiling made irreversible. A model must encode all its invariants.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Richard Albert King Mechoda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37376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21212"/>
                </a:solidFill>
                <a:latin typeface="Arial"/>
              </a:rPr>
              <a:t>What I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110642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121212"/>
                </a:solidFill>
                <a:latin typeface="Arial"/>
              </a:rPr>
              <a:t>-  State predicates are causal milestones, not physics. Anything left implicit is something the planner can exploit.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121212"/>
                </a:solidFill>
                <a:latin typeface="Arial"/>
              </a:rPr>
              <a:t>-  Correct ordering needs no script: preconditions alone give the 3-step and 9-step plans.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121212"/>
                </a:solidFill>
                <a:latin typeface="Arial"/>
              </a:rPr>
              <a:t>-  PDDL+ changes the game: processes run without the planner, events fire at thresholds, and waiting is no longer free.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121212"/>
                </a:solidFill>
                <a:latin typeface="Arial"/>
              </a:rPr>
              <a:t>-  One duration value flips an instance from solvable to provably unsolvable. That is timing affecting plan validity.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121212"/>
                </a:solidFill>
                <a:latin typeface="Arial"/>
              </a:rPr>
              <a:t>-  Practical notes: ENHSP has no durative actions, reserves the name at, and discretises the dynamics with a 1-second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943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Repository: github.com/albertrichard080/D2-V1-Domestic-Service-Robot-Basic-Coffee-Preparation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Richard Albert King Mechoda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37376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Domestic Service Robot: Basic Coffee Preparation</dc:title>
  <dc:subject>Artificial Intelligence for Robotics II, Assignment D2-V1</dc:subject>
  <dc:creator>Richard Albert King Mechoda</dc:creator>
  <cp:keywords/>
  <dc:description/>
  <cp:lastModifiedBy>Richard Albert King Mechoda</cp:lastModifiedBy>
  <cp:revision>4</cp:revision>
  <dcterms:created xsi:type="dcterms:W3CDTF">2026-06-12T18:00:00Z</dcterms:created>
  <dcterms:modified xsi:type="dcterms:W3CDTF">2026-06-14T11:00:00Z</dcterms:modified>
  <cp:category/>
</cp:coreProperties>
</file>